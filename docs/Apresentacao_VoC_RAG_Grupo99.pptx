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a4e956d-c95f-b4df-6046-77d5b5a64ce3}">
          <p14:sldIdLst>
            <p14:sldId id="256"/>
          </p14:sldIdLst>
        </p14:section>
        <p14:section name="Contexto" id="{fcbd1b4a-ef35-1006-fa91-912e8697befc}">
          <p14:sldIdLst>
            <p14:sldId id="257"/>
            <p14:sldId id="258"/>
          </p14:sldIdLst>
        </p14:section>
        <p14:section name="Achados" id="{889927ee-2860-73e0-aeee-43c91daf681d}">
          <p14:sldIdLst>
            <p14:sldId id="259"/>
            <p14:sldId id="260"/>
            <p14:sldId id="261"/>
            <p14:sldId id="262"/>
          </p14:sldIdLst>
        </p14:section>
        <p14:section name="Fecho" id="{a8fe2696-c87c-389b-c9fb-ef8dc5cabde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3"/>
                </a:solidFill>
                <a:latin typeface="+mn-lt"/>
              </a:rPr>
              <a:t>Quem comenta é quem reclama: % de avaliações com texto, por nota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Avaliações com texto</c:v>
                </c:pt>
              </c:strCache>
            </c:strRef>
          </c:tx>
          <c:spPr>
            <a:solidFill>
              <a:srgbClr val="2F5D6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Nota 1</c:v>
                  </c:pt>
                  <c:pt idx="1">
                    <c:v>Nota 2</c:v>
                  </c:pt>
                  <c:pt idx="2">
                    <c:v>Nota 3</c:v>
                  </c:pt>
                  <c:pt idx="3">
                    <c:v>Nota 4</c:v>
                  </c:pt>
                  <c:pt idx="4">
                    <c:v>Nota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0.772</c:v>
                </c:pt>
                <c:pt idx="1">
                  <c:v>0.685</c:v>
                </c:pt>
                <c:pt idx="2">
                  <c:v>0.445</c:v>
                </c:pt>
                <c:pt idx="3">
                  <c:v>0.325</c:v>
                </c:pt>
                <c:pt idx="4">
                  <c:v>0.378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3"/>
                </a:solidFill>
                <a:latin typeface="+mn-lt"/>
              </a:rPr>
              <a:t>Principais problemas: % das 14.445 avaliações nota 1–3 com texto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Avaliações nota 1–3 com texto</c:v>
                </c:pt>
              </c:strCache>
            </c:strRef>
          </c:tx>
          <c:spPr>
            <a:solidFill>
              <a:srgbClr val="2F5D62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Atraso na entrega</c:v>
                  </c:pt>
                  <c:pt idx="1">
                    <c:v>Pedido incompleto</c:v>
                  </c:pt>
                  <c:pt idx="2">
                    <c:v>Troca, devolução ou reembolso</c:v>
                  </c:pt>
                  <c:pt idx="3">
                    <c:v>Não recomenda / insatisfação</c:v>
                  </c:pt>
                  <c:pt idx="4">
                    <c:v>Pedido não recebido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0.084</c:v>
                </c:pt>
                <c:pt idx="1">
                  <c:v>0.103</c:v>
                </c:pt>
                <c:pt idx="2">
                  <c:v>0.118</c:v>
                </c:pt>
                <c:pt idx="3">
                  <c:v>0.118</c:v>
                </c:pt>
                <c:pt idx="4">
                  <c:v>0.236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3"/>
                </a:solidFill>
                <a:latin typeface="+mn-lt"/>
              </a:rPr>
              <a:t>Precisão@8 por modo de busca (8 perguntas de teste)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precisão@8</c:v>
                </c:pt>
              </c:strCache>
            </c:strRef>
          </c:tx>
          <c:spPr>
            <a:solidFill>
              <a:srgbClr val="B8C4C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4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4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4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9D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BM25</c:v>
                  </c:pt>
                  <c:pt idx="1">
                    <c:v>Densa (e5-base)</c:v>
                  </c:pt>
                  <c:pt idx="2">
                    <c:v>Híbrida (RRF)</c:v>
                  </c:pt>
                  <c:pt idx="3">
                    <c:v>Híbrida + reranker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0.672</c:v>
                </c:pt>
                <c:pt idx="1">
                  <c:v>0.797</c:v>
                </c:pt>
                <c:pt idx="2">
                  <c:v>0.875</c:v>
                </c:pt>
                <c:pt idx="3">
                  <c:v>0.922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3"/>
                </a:solidFill>
                <a:latin typeface="+mn-lt"/>
              </a:rPr>
              <a:t>Fração das 8 evidências que pertencem ao recorte pedido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 pré-filtro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[=1]0%;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Nota 1–2 (insatisfeitos)</c:v>
                  </c:pt>
                  <c:pt idx="1">
                    <c:v>Nota baixa</c:v>
                  </c:pt>
                  <c:pt idx="2">
                    <c:v>Beleza e saúde</c:v>
                  </c:pt>
                  <c:pt idx="3">
                    <c:v>Móveis, negativas, 2018</c:v>
                  </c:pt>
                  <c:pt idx="4">
                    <c:v>SP + entrega atrasada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 filtro (mesma pergunta)</c:v>
                </c:pt>
              </c:strCache>
            </c:strRef>
          </c:tx>
          <c:spPr>
            <a:solidFill>
              <a:srgbClr val="E0662F"/>
            </a:solidFill>
            <a:effectLst/>
          </c:spPr>
          <c:invertIfNegative val="0"/>
          <c:dLbls>
            <c:numFmt formatCode="[=1]0%;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Nota 1–2 (insatisfeitos)</c:v>
                  </c:pt>
                  <c:pt idx="1">
                    <c:v>Nota baixa</c:v>
                  </c:pt>
                  <c:pt idx="2">
                    <c:v>Beleza e saúde</c:v>
                  </c:pt>
                  <c:pt idx="3">
                    <c:v>Móveis, negativas, 2018</c:v>
                  </c:pt>
                  <c:pt idx="4">
                    <c:v>SP + entrega atrasada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0.5</c:v>
                </c:pt>
                <c:pt idx="2">
                  <c:v>0.125</c:v>
                </c:pt>
                <c:pt idx="3">
                  <c:v>0.125</c:v>
                </c:pt>
                <c:pt idx="4">
                  <c:v>0</c:v>
                </c:pt>
              </c:numCache>
            </c:numRef>
          </c:val>
        </c:ser>
        <c:dLbls>
          <c:numFmt formatCode="[=1]0%;0.0%" sourceLinked="0"/>
          <c:txPr>
            <a:bodyPr/>
            <a:lstStyle/>
            <a:p>
              <a:pPr>
                <a:defRPr b="0" i="0" strike="noStrike" sz="12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D2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s. Apresentamos uma solução de Voice of Customer com RAG sobre as avaliações da Olist. A promessa é simples: cada resposta aponta para avaliações reais, e quando a base não sustenta uma resposta, o sistema diz que não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s. São 99 mil avaliações; 42 mil têm texto e viram documentos, um por avaliação, sem chunking, porque a mediana é de 9 palavras. Atenção ao viés: 77% das notas 1 têm comentário, contra cerca de um terço das notas 4 e 5. Por isso toda porcentagem do sistema declara a base sobre a qual foi calculada.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Uma pergunta passa por seis etapas. Regras extraem filtros de metadados. A busca combina embeddings e BM25 e um cross-encoder reordena. O gate decide, antes do LLM, se há base para responder. O Gemini redige citando as evidências, e uma verificação remove o que não tiver fonte. Perguntas de frequência, como 'quais os principais problemas', vão para uma camada em que o código conta e o LLM só escreve: com top-k, o LLM não teria como saber o que é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O problema número um não é atraso, é não receber: 23,6% das avaliações negativas com texto. Entre os elogios, domina a satisfação geral e a entrega rápida. O achado mais interessante: quem diz 'não recebi' num pedido que o sistema registra como entregue no prazo tem, em 22% dos casos, mais de um vendedor, contra 4% nas outras negativas. É um indício de entrega parcial, que só aparece no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Medimos a precisão das oito primeiras evidências. A busca densa supera o BM25; a fusão das duas dá o maior salto e acerta a primeira evidência em todas as perguntas; o reranker fecha em 0,922. Comparando embeddings, a família e5 venceu; o e5-small empatou com o e5-base em um terço do tempo. Ressalva honesta: o gabarito é uma regex que favorece o BM25, então lemos como tendência.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s. Este é o desafio adicional. Para cada pergunta com filtro, medimos quantas das 8 evidências caem no recorte pedido, com e sem o filtro. Com filtro, 100%. Sem filtro, 25% em média: metade quando a insatisfação aparece no texto, e quase nada para categoria, ano, UF ou entrega atrasada, que só existem nos metadados. É a justificativa medida do pré-filtro.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O requisito 4 pede reconhecer quando não há informação. São três barreiras: um gate antes do LLM, a instrução para o LLM recusar e a verificação depois. Em 31 perguntas, 96,8% tiveram a decisão certa entre responder ou recusar; exigindo o motivo exato, 80,6%. Os três casos do enunciado aparecem aqui. O erro que sobrou: uma pergunta sobre óleo de carro passou pelo filtro de escopo. O sistema não inventou nada, mas também não a reconheceu como fora da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Duas auditorias humanas fecham o ciclo: 95,8% das frases geradas são sustentadas pelas avaliações citadas e nenhuma ficou sem sustentação; as regras de tema têm 94,9% de precisão. Os limites estão declarados: o filtro de escopo é o elo fraco, o tema 'não recebido' absorve entregas parciais e a fidelidade ainda é medida por amostra. Tudo está no README, com os números e os scripts para reproduzir.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Grupo 99 · Tech Challenge Fase 4 · FIAP Pós-Tech AI Scientist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99 · Tech Challenge Fase 4 · FIAP Pós-Tech AI Scientist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Voice of Customer Intelligence com RAG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O que 42 mil avaliações da Olist dizem, com evidência rastreável, e quando o sistema prefere não responder</a:t>
            </a:r>
            <a:endParaRPr lang="en-US" sz="2000" dirty="0"/>
          </a:p>
        </p:txBody>
      </p:sp>
      <p:sp>
        <p:nvSpPr>
          <p:cNvPr id="4" name="equipe"/>
          <p:cNvSpPr txBox="1"/>
          <p:nvPr/>
        </p:nvSpPr>
        <p:spPr>
          <a:xfrm>
            <a:off x="548640" y="5120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Tech Challenge · Fase 4 · FIAP Pós-Tech AI Scientist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Grupo 99: Gustavo Schilling Schutt · Tainá Julianotti · Wilker Ferreira Cunha</a:t>
            </a:r>
            <a:endParaRPr lang="en-US" sz="1400" dirty="0"/>
          </a:p>
        </p:txBody>
      </p:sp>
      <p:sp>
        <p:nvSpPr>
          <p:cNvPr id="5" name="cartao_capa"/>
          <p:cNvSpPr/>
          <p:nvPr/>
        </p:nvSpPr>
        <p:spPr>
          <a:xfrm>
            <a:off x="8183880" y="1737360"/>
            <a:ext cx="3474720" cy="3017520"/>
          </a:xfrm>
          <a:prstGeom prst="roundRect">
            <a:avLst>
              <a:gd name="adj" fmla="val 4545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stat_capa"/>
          <p:cNvSpPr txBox="1"/>
          <p:nvPr/>
        </p:nvSpPr>
        <p:spPr>
          <a:xfrm>
            <a:off x="8458200" y="196596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42.138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avaliações com texto (2016–2018)</a:t>
            </a:r>
            <a:endParaRPr lang="en-US" sz="5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avaliação = 1 documento, rastreável até o review_id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nota diz quanto; o texto diz por quê</a:t>
            </a:r>
            <a:endParaRPr lang="en-US" sz="3400" dirty="0"/>
          </a:p>
        </p:txBody>
      </p:sp>
      <p:sp>
        <p:nvSpPr>
          <p:cNvPr id="3" name="funil_0"/>
          <p:cNvSpPr/>
          <p:nvPr/>
        </p:nvSpPr>
        <p:spPr>
          <a:xfrm>
            <a:off x="548640" y="141732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funil_txt_0"/>
          <p:cNvSpPr txBox="1"/>
          <p:nvPr/>
        </p:nvSpPr>
        <p:spPr>
          <a:xfrm>
            <a:off x="822960" y="15087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99.224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avaliações no dado bruto</a:t>
            </a:r>
            <a:endParaRPr lang="en-US" sz="3200" dirty="0"/>
          </a:p>
        </p:txBody>
      </p:sp>
      <p:sp>
        <p:nvSpPr>
          <p:cNvPr id="5" name="funil_1"/>
          <p:cNvSpPr/>
          <p:nvPr/>
        </p:nvSpPr>
        <p:spPr>
          <a:xfrm>
            <a:off x="548640" y="288036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funil_txt_1"/>
          <p:cNvSpPr txBox="1"/>
          <p:nvPr/>
        </p:nvSpPr>
        <p:spPr>
          <a:xfrm>
            <a:off x="822960" y="2971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98.410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avaliações únicas (814 linhas repetidas)</a:t>
            </a:r>
            <a:endParaRPr lang="en-US" sz="3200" dirty="0"/>
          </a:p>
        </p:txBody>
      </p:sp>
      <p:sp>
        <p:nvSpPr>
          <p:cNvPr id="7" name="funil_2"/>
          <p:cNvSpPr/>
          <p:nvPr/>
        </p:nvSpPr>
        <p:spPr>
          <a:xfrm>
            <a:off x="548640" y="4343400"/>
            <a:ext cx="475488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8" name="funil_txt_2"/>
          <p:cNvSpPr txBox="1"/>
          <p:nvPr/>
        </p:nvSpPr>
        <p:spPr>
          <a:xfrm>
            <a:off x="822960" y="44348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42.138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 título ou comentário: viram documentos</a:t>
            </a:r>
            <a:endParaRPr lang="en-US" sz="3200" dirty="0"/>
          </a:p>
        </p:txBody>
      </p:sp>
      <p:graphicFrame>
        <p:nvGraphicFramePr>
          <p:cNvPr id="9" name="grafico_texto_por_nota" descr=""/>
          <p:cNvGraphicFramePr/>
          <p:nvPr/>
        </p:nvGraphicFramePr>
        <p:xfrm>
          <a:off x="5852160" y="132588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nota_vies"/>
          <p:cNvSpPr txBox="1"/>
          <p:nvPr/>
        </p:nvSpPr>
        <p:spPr>
          <a:xfrm>
            <a:off x="5852160" y="5852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Os percentuais da camada analítica são sempre calculados dentro de bases declaradas, por causa desse viés.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Arquitetura: buscar, filtrar, provar ou recusar</a:t>
            </a:r>
            <a:endParaRPr lang="en-US" sz="3400" dirty="0"/>
          </a:p>
        </p:txBody>
      </p:sp>
      <p:sp>
        <p:nvSpPr>
          <p:cNvPr id="3" name="passo_circulo_0"/>
          <p:cNvSpPr/>
          <p:nvPr/>
        </p:nvSpPr>
        <p:spPr>
          <a:xfrm>
            <a:off x="1015975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asso_icone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575" y="1920240"/>
            <a:ext cx="457200" cy="457200"/>
          </a:xfrm>
          <a:prstGeom prst="rect">
            <a:avLst/>
          </a:prstGeom>
        </p:spPr>
      </p:pic>
      <p:sp>
        <p:nvSpPr>
          <p:cNvPr id="5" name="seta_0"/>
          <p:cNvSpPr/>
          <p:nvPr/>
        </p:nvSpPr>
        <p:spPr>
          <a:xfrm>
            <a:off x="2021815" y="2148840"/>
            <a:ext cx="751789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passo_txt_0"/>
          <p:cNvSpPr txBox="1"/>
          <p:nvPr/>
        </p:nvSpPr>
        <p:spPr>
          <a:xfrm>
            <a:off x="621792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Filtros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regras extraem nota, período, categoria, UF e entrega</a:t>
            </a:r>
            <a:endParaRPr lang="en-US" sz="1600" dirty="0"/>
          </a:p>
        </p:txBody>
      </p:sp>
      <p:sp>
        <p:nvSpPr>
          <p:cNvPr id="7" name="passo_circulo_1"/>
          <p:cNvSpPr/>
          <p:nvPr/>
        </p:nvSpPr>
        <p:spPr>
          <a:xfrm>
            <a:off x="2865044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passo_icone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44" y="1920240"/>
            <a:ext cx="457200" cy="457200"/>
          </a:xfrm>
          <a:prstGeom prst="rect">
            <a:avLst/>
          </a:prstGeom>
        </p:spPr>
      </p:pic>
      <p:sp>
        <p:nvSpPr>
          <p:cNvPr id="9" name="seta_1"/>
          <p:cNvSpPr/>
          <p:nvPr/>
        </p:nvSpPr>
        <p:spPr>
          <a:xfrm>
            <a:off x="3870884" y="2148840"/>
            <a:ext cx="751789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passo_txt_1"/>
          <p:cNvSpPr txBox="1"/>
          <p:nvPr/>
        </p:nvSpPr>
        <p:spPr>
          <a:xfrm>
            <a:off x="2470861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Busca híbrida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e5-base + BM25, fusão RRF</a:t>
            </a:r>
            <a:endParaRPr lang="en-US" sz="1600" dirty="0"/>
          </a:p>
        </p:txBody>
      </p:sp>
      <p:sp>
        <p:nvSpPr>
          <p:cNvPr id="11" name="passo_circulo_2"/>
          <p:cNvSpPr/>
          <p:nvPr/>
        </p:nvSpPr>
        <p:spPr>
          <a:xfrm>
            <a:off x="4714113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asso_icone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713" y="1920240"/>
            <a:ext cx="457200" cy="457200"/>
          </a:xfrm>
          <a:prstGeom prst="rect">
            <a:avLst/>
          </a:prstGeom>
        </p:spPr>
      </p:pic>
      <p:sp>
        <p:nvSpPr>
          <p:cNvPr id="13" name="seta_2"/>
          <p:cNvSpPr/>
          <p:nvPr/>
        </p:nvSpPr>
        <p:spPr>
          <a:xfrm>
            <a:off x="5719953" y="2148840"/>
            <a:ext cx="751789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passo_txt_2"/>
          <p:cNvSpPr txBox="1"/>
          <p:nvPr/>
        </p:nvSpPr>
        <p:spPr>
          <a:xfrm>
            <a:off x="4319930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Reranker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cross-encoder lê pergunta e avaliação juntas</a:t>
            </a:r>
            <a:endParaRPr lang="en-US" sz="1600" dirty="0"/>
          </a:p>
        </p:txBody>
      </p:sp>
      <p:sp>
        <p:nvSpPr>
          <p:cNvPr id="15" name="passo_circulo_3"/>
          <p:cNvSpPr/>
          <p:nvPr/>
        </p:nvSpPr>
        <p:spPr>
          <a:xfrm>
            <a:off x="6563182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asso_icone_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782" y="1920240"/>
            <a:ext cx="457200" cy="457200"/>
          </a:xfrm>
          <a:prstGeom prst="rect">
            <a:avLst/>
          </a:prstGeom>
        </p:spPr>
      </p:pic>
      <p:sp>
        <p:nvSpPr>
          <p:cNvPr id="17" name="seta_3"/>
          <p:cNvSpPr/>
          <p:nvPr/>
        </p:nvSpPr>
        <p:spPr>
          <a:xfrm>
            <a:off x="7569022" y="2148840"/>
            <a:ext cx="751789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passo_txt_3"/>
          <p:cNvSpPr txBox="1"/>
          <p:nvPr/>
        </p:nvSpPr>
        <p:spPr>
          <a:xfrm>
            <a:off x="6169000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escopo, termo ausente ou raro, relevância</a:t>
            </a:r>
            <a:endParaRPr lang="en-US" sz="1600" dirty="0"/>
          </a:p>
        </p:txBody>
      </p:sp>
      <p:sp>
        <p:nvSpPr>
          <p:cNvPr id="19" name="passo_circulo_4"/>
          <p:cNvSpPr/>
          <p:nvPr/>
        </p:nvSpPr>
        <p:spPr>
          <a:xfrm>
            <a:off x="8412251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asso_icone_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851" y="1920240"/>
            <a:ext cx="457200" cy="457200"/>
          </a:xfrm>
          <a:prstGeom prst="rect">
            <a:avLst/>
          </a:prstGeom>
        </p:spPr>
      </p:pic>
      <p:sp>
        <p:nvSpPr>
          <p:cNvPr id="21" name="seta_4"/>
          <p:cNvSpPr/>
          <p:nvPr/>
        </p:nvSpPr>
        <p:spPr>
          <a:xfrm>
            <a:off x="9418091" y="2148840"/>
            <a:ext cx="751789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passo_txt_4"/>
          <p:cNvSpPr txBox="1"/>
          <p:nvPr/>
        </p:nvSpPr>
        <p:spPr>
          <a:xfrm>
            <a:off x="8018069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Gemini 3.8 Flash com evidências [E1…E8]</a:t>
            </a:r>
            <a:endParaRPr lang="en-US" sz="1600" dirty="0"/>
          </a:p>
        </p:txBody>
      </p:sp>
      <p:sp>
        <p:nvSpPr>
          <p:cNvPr id="23" name="passo_circulo_5"/>
          <p:cNvSpPr/>
          <p:nvPr/>
        </p:nvSpPr>
        <p:spPr>
          <a:xfrm>
            <a:off x="10261321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passo_icone_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921" y="1920240"/>
            <a:ext cx="457200" cy="457200"/>
          </a:xfrm>
          <a:prstGeom prst="rect">
            <a:avLst/>
          </a:prstGeom>
        </p:spPr>
      </p:pic>
      <p:sp>
        <p:nvSpPr>
          <p:cNvPr id="25" name="passo_txt_5"/>
          <p:cNvSpPr txBox="1"/>
          <p:nvPr/>
        </p:nvSpPr>
        <p:spPr>
          <a:xfrm>
            <a:off x="9867138" y="2743200"/>
            <a:ext cx="1702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remove citações inválidas e frases sem fonte</a:t>
            </a:r>
            <a:endParaRPr lang="en-US" sz="1600" dirty="0"/>
          </a:p>
        </p:txBody>
      </p:sp>
      <p:sp>
        <p:nvSpPr>
          <p:cNvPr id="26" name="cartao_analitico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7" name="analitico_circulo"/>
          <p:cNvSpPr/>
          <p:nvPr/>
        </p:nvSpPr>
        <p:spPr>
          <a:xfrm>
            <a:off x="868680" y="461772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analitico_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846320"/>
            <a:ext cx="457200" cy="457200"/>
          </a:xfrm>
          <a:prstGeom prst="rect">
            <a:avLst/>
          </a:prstGeom>
        </p:spPr>
      </p:pic>
      <p:sp>
        <p:nvSpPr>
          <p:cNvPr id="29" name="analitico_txt"/>
          <p:cNvSpPr txBox="1"/>
          <p:nvPr/>
        </p:nvSpPr>
        <p:spPr>
          <a:xfrm>
            <a:off x="2057400" y="4343400"/>
            <a:ext cx="9265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Perguntas de frequência vão para a camada analítica: o código conta, o LLM só redige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21 temas por regras auditáveis contados na base inteira; o LLM recebe a tabela pronta, e qualquer número fora dela é removido. Num RAG puro, o LLM veria 8 de 42 mil avaliações e não teria como saber o que é frequente.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que os clientes dizem: o problema é receber</a:t>
            </a:r>
            <a:endParaRPr lang="en-US" sz="3400" dirty="0"/>
          </a:p>
        </p:txBody>
      </p:sp>
      <p:graphicFrame>
        <p:nvGraphicFramePr>
          <p:cNvPr id="3" name="grafico_problemas" descr=""/>
          <p:cNvGraphicFramePr/>
          <p:nvPr/>
        </p:nvGraphicFramePr>
        <p:xfrm>
          <a:off x="548640" y="132588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tao_elogios"/>
          <p:cNvSpPr/>
          <p:nvPr/>
        </p:nvSpPr>
        <p:spPr>
          <a:xfrm>
            <a:off x="7452360" y="4526280"/>
            <a:ext cx="418795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elogios"/>
          <p:cNvSpPr txBox="1"/>
          <p:nvPr/>
        </p:nvSpPr>
        <p:spPr>
          <a:xfrm>
            <a:off x="7726680" y="4617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 os elogios (notas 4–5)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recomenda 61,9% · entrega rápida 32,6% · boa qualidade 14,1% das 27.693 avaliações com texto</a:t>
            </a:r>
            <a:endParaRPr lang="en-US" sz="1600" dirty="0"/>
          </a:p>
        </p:txBody>
      </p:sp>
      <p:sp>
        <p:nvSpPr>
          <p:cNvPr id="6" name="cartao_insight"/>
          <p:cNvSpPr/>
          <p:nvPr/>
        </p:nvSpPr>
        <p:spPr>
          <a:xfrm>
            <a:off x="7452360" y="1417320"/>
            <a:ext cx="4187952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7" name="insight_txt"/>
          <p:cNvSpPr txBox="1"/>
          <p:nvPr/>
        </p:nvSpPr>
        <p:spPr>
          <a:xfrm>
            <a:off x="7726680" y="15544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Insight: entrega parcial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Quem diz "não recebi" num pedido registrado como entregue no prazo tem pedido com mais de um vendedor em</a:t>
            </a:r>
            <a:endParaRPr lang="en-US" sz="18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22,1%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contra 4,4% nas demais avaliações negativas no prazo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Associação, não prova: só o texto revela esse padrão; nem a nota nem os metadados mostram.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Recuperação: cada etapa acrescenta precisão</a:t>
            </a:r>
            <a:endParaRPr lang="en-US" sz="3400" dirty="0"/>
          </a:p>
        </p:txBody>
      </p:sp>
      <p:graphicFrame>
        <p:nvGraphicFramePr>
          <p:cNvPr id="3" name="grafico_recuperacao" descr=""/>
          <p:cNvGraphicFramePr/>
          <p:nvPr/>
        </p:nvGraphicFramePr>
        <p:xfrm>
          <a:off x="548640" y="1325880"/>
          <a:ext cx="63093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c_num_0"/>
          <p:cNvSpPr txBox="1"/>
          <p:nvPr/>
        </p:nvSpPr>
        <p:spPr>
          <a:xfrm>
            <a:off x="726948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+0,078</a:t>
            </a:r>
            <a:endParaRPr lang="en-US" sz="3000" dirty="0"/>
          </a:p>
        </p:txBody>
      </p:sp>
      <p:sp>
        <p:nvSpPr>
          <p:cNvPr id="5" name="rec_txt_0"/>
          <p:cNvSpPr txBox="1"/>
          <p:nvPr/>
        </p:nvSpPr>
        <p:spPr>
          <a:xfrm>
            <a:off x="8732520" y="146304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fusão com o BM25 é o maior salto, e acerta a 1ª evidência nas 8 perguntas</a:t>
            </a:r>
            <a:endParaRPr lang="en-US" sz="1400" dirty="0"/>
          </a:p>
        </p:txBody>
      </p:sp>
      <p:sp>
        <p:nvSpPr>
          <p:cNvPr id="6" name="rec_num_1"/>
          <p:cNvSpPr txBox="1"/>
          <p:nvPr/>
        </p:nvSpPr>
        <p:spPr>
          <a:xfrm>
            <a:off x="7269480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+0,047</a:t>
            </a:r>
            <a:endParaRPr lang="en-US" sz="3000" dirty="0"/>
          </a:p>
        </p:txBody>
      </p:sp>
      <p:sp>
        <p:nvSpPr>
          <p:cNvPr id="7" name="rec_txt_1"/>
          <p:cNvSpPr txBox="1"/>
          <p:nvPr/>
        </p:nvSpPr>
        <p:spPr>
          <a:xfrm>
            <a:off x="8732520" y="274320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reranker leva a 0,922, configuração usada no sistema</a:t>
            </a:r>
            <a:endParaRPr lang="en-US" sz="1400" dirty="0"/>
          </a:p>
        </p:txBody>
      </p:sp>
      <p:sp>
        <p:nvSpPr>
          <p:cNvPr id="8" name="rec_num_2"/>
          <p:cNvSpPr txBox="1"/>
          <p:nvPr/>
        </p:nvSpPr>
        <p:spPr>
          <a:xfrm>
            <a:off x="7269480" y="40233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1/3</a:t>
            </a:r>
            <a:endParaRPr lang="en-US" sz="3000" dirty="0"/>
          </a:p>
        </p:txBody>
      </p:sp>
      <p:sp>
        <p:nvSpPr>
          <p:cNvPr id="9" name="rec_txt_2"/>
          <p:cNvSpPr txBox="1"/>
          <p:nvPr/>
        </p:nvSpPr>
        <p:spPr>
          <a:xfrm>
            <a:off x="8732520" y="402336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tempo de indexação: o e5-small empata com o e5-base (1 documento em 64); o MiniLM visto em aula fica abaixo até do LSA na busca densa</a:t>
            </a:r>
            <a:endParaRPr lang="en-US" sz="1400" dirty="0"/>
          </a:p>
        </p:txBody>
      </p:sp>
      <p:sp>
        <p:nvSpPr>
          <p:cNvPr id="10" name="rec_ressalva"/>
          <p:cNvSpPr txBox="1"/>
          <p:nvPr/>
        </p:nvSpPr>
        <p:spPr>
          <a:xfrm>
            <a:off x="7269480" y="5486400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Leitura indicativa: a relevância é uma regex do tema, que casa termos da própria pergunta em 7 das 8 perguntas e favorece o BM25.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Metadados: o que o texto não diz, o filtro resolve</a:t>
            </a:r>
            <a:endParaRPr lang="en-US" sz="3400" dirty="0"/>
          </a:p>
        </p:txBody>
      </p:sp>
      <p:graphicFrame>
        <p:nvGraphicFramePr>
          <p:cNvPr id="3" name="grafico_filtros" descr=""/>
          <p:cNvGraphicFramePr/>
          <p:nvPr/>
        </p:nvGraphicFramePr>
        <p:xfrm>
          <a:off x="548640" y="132588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tao_filtros"/>
          <p:cNvSpPr/>
          <p:nvPr/>
        </p:nvSpPr>
        <p:spPr>
          <a:xfrm>
            <a:off x="8549640" y="1417320"/>
            <a:ext cx="3090672" cy="3749040"/>
          </a:xfrm>
          <a:prstGeom prst="roundRect">
            <a:avLst>
              <a:gd name="adj" fmla="val 3550"/>
            </a:avLst>
          </a:prstGeom>
          <a:solidFill>
            <a:schemeClr val="bg2"/>
          </a:solidFill>
          <a:ln/>
        </p:spPr>
      </p:sp>
      <p:sp>
        <p:nvSpPr>
          <p:cNvPr id="5" name="filtros_txt"/>
          <p:cNvSpPr txBox="1"/>
          <p:nvPr/>
        </p:nvSpPr>
        <p:spPr>
          <a:xfrm>
            <a:off x="8778240" y="1600200"/>
            <a:ext cx="2651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100%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das evidências no recorte, com filtro</a:t>
            </a:r>
            <a:endParaRPr lang="en-US" sz="4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25%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sem filtro, em média</a:t>
            </a:r>
            <a:endParaRPr lang="en-US" sz="4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4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Sem filtro, a busca só encontra o recorte quando o critério aparece no texto. Categoria, ano, UF e entrega não aparecem.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Saber dizer "não sei" é parte da resposta</a:t>
            </a:r>
            <a:endParaRPr lang="en-US" sz="3400" dirty="0"/>
          </a:p>
        </p:txBody>
      </p:sp>
      <p:sp>
        <p:nvSpPr>
          <p:cNvPr id="3" name="recusa_stats"/>
          <p:cNvSpPr txBox="1"/>
          <p:nvPr/>
        </p:nvSpPr>
        <p:spPr>
          <a:xfrm>
            <a:off x="548640" y="14173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96,8%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das 31 perguntas de teste com a decisão certa: responder ou recusar</a:t>
            </a:r>
            <a:endParaRPr lang="en-US" sz="5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54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80,6%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exigindo também o motivo exato da recusa</a:t>
            </a:r>
            <a:endParaRPr lang="en-US" sz="5400" dirty="0"/>
          </a:p>
        </p:txBody>
      </p:sp>
      <p:sp>
        <p:nvSpPr>
          <p:cNvPr id="4" name="cartao_barreiras"/>
          <p:cNvSpPr/>
          <p:nvPr/>
        </p:nvSpPr>
        <p:spPr>
          <a:xfrm>
            <a:off x="548640" y="4526280"/>
            <a:ext cx="3931920" cy="1527048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/>
        </p:spPr>
      </p:sp>
      <p:sp>
        <p:nvSpPr>
          <p:cNvPr id="5" name="barreiras_txt"/>
          <p:cNvSpPr txBox="1"/>
          <p:nvPr/>
        </p:nvSpPr>
        <p:spPr>
          <a:xfrm>
            <a:off x="777240" y="46177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Três barreiras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3"/>
                </a:solidFill>
              </a:rPr>
              <a:t>gate antes do LLM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3"/>
                </a:solidFill>
              </a:rPr>
              <a:t>instrução para o LLM recusar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3"/>
                </a:solidFill>
              </a:rPr>
              <a:t>verificação das citações</a:t>
            </a:r>
            <a:endParaRPr lang="en-US" sz="1600" dirty="0"/>
          </a:p>
        </p:txBody>
      </p:sp>
      <p:sp>
        <p:nvSpPr>
          <p:cNvPr id="6" name="caso_0"/>
          <p:cNvSpPr/>
          <p:nvPr/>
        </p:nvSpPr>
        <p:spPr>
          <a:xfrm>
            <a:off x="4846320" y="1371600"/>
            <a:ext cx="6793992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7" name="caso_circulo_0"/>
          <p:cNvSpPr/>
          <p:nvPr/>
        </p:nvSpPr>
        <p:spPr>
          <a:xfrm>
            <a:off x="5029200" y="15636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aso_icone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719072"/>
            <a:ext cx="329184" cy="329184"/>
          </a:xfrm>
          <a:prstGeom prst="rect">
            <a:avLst/>
          </a:prstGeom>
        </p:spPr>
      </p:pic>
      <p:sp>
        <p:nvSpPr>
          <p:cNvPr id="9" name="caso_txt_0"/>
          <p:cNvSpPr txBox="1"/>
          <p:nvPr/>
        </p:nvSpPr>
        <p:spPr>
          <a:xfrm>
            <a:off x="5852160" y="1444752"/>
            <a:ext cx="5623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evidência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"cashback" não aparece em nenhuma avaliação: o sistema recusa e diz qual termo faltou</a:t>
            </a:r>
            <a:endParaRPr lang="en-US" sz="1600" dirty="0"/>
          </a:p>
        </p:txBody>
      </p:sp>
      <p:sp>
        <p:nvSpPr>
          <p:cNvPr id="10" name="caso_1"/>
          <p:cNvSpPr/>
          <p:nvPr/>
        </p:nvSpPr>
        <p:spPr>
          <a:xfrm>
            <a:off x="4846320" y="2578608"/>
            <a:ext cx="6793992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1" name="caso_circulo_1"/>
          <p:cNvSpPr/>
          <p:nvPr/>
        </p:nvSpPr>
        <p:spPr>
          <a:xfrm>
            <a:off x="5029200" y="27706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so_icone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926080"/>
            <a:ext cx="329184" cy="329184"/>
          </a:xfrm>
          <a:prstGeom prst="rect">
            <a:avLst/>
          </a:prstGeom>
        </p:spPr>
      </p:pic>
      <p:sp>
        <p:nvSpPr>
          <p:cNvPr id="13" name="caso_txt_1"/>
          <p:cNvSpPr txBox="1"/>
          <p:nvPr/>
        </p:nvSpPr>
        <p:spPr>
          <a:xfrm>
            <a:off x="5852160" y="2651760"/>
            <a:ext cx="5623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Evidência insuficiente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"patinetes" tem 1 menção: ela é mostrada, sem generalizar</a:t>
            </a:r>
            <a:endParaRPr lang="en-US" sz="1600" dirty="0"/>
          </a:p>
        </p:txBody>
      </p:sp>
      <p:sp>
        <p:nvSpPr>
          <p:cNvPr id="14" name="caso_2"/>
          <p:cNvSpPr/>
          <p:nvPr/>
        </p:nvSpPr>
        <p:spPr>
          <a:xfrm>
            <a:off x="4846320" y="3785616"/>
            <a:ext cx="6793992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5" name="caso_circulo_2"/>
          <p:cNvSpPr/>
          <p:nvPr/>
        </p:nvSpPr>
        <p:spPr>
          <a:xfrm>
            <a:off x="5029200" y="3977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so_icone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4133088"/>
            <a:ext cx="329184" cy="329184"/>
          </a:xfrm>
          <a:prstGeom prst="rect">
            <a:avLst/>
          </a:prstGeom>
        </p:spPr>
      </p:pic>
      <p:sp>
        <p:nvSpPr>
          <p:cNvPr id="17" name="caso_txt_2"/>
          <p:cNvSpPr txBox="1"/>
          <p:nvPr/>
        </p:nvSpPr>
        <p:spPr>
          <a:xfrm>
            <a:off x="5852160" y="3858768"/>
            <a:ext cx="5623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Fora do escopo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"Qual é a capital da Austrália?" não se parece com nada da base</a:t>
            </a:r>
            <a:endParaRPr lang="en-US" sz="1600" dirty="0"/>
          </a:p>
        </p:txBody>
      </p:sp>
      <p:sp>
        <p:nvSpPr>
          <p:cNvPr id="18" name="caso_erro"/>
          <p:cNvSpPr/>
          <p:nvPr/>
        </p:nvSpPr>
        <p:spPr>
          <a:xfrm>
            <a:off x="4846320" y="5029200"/>
            <a:ext cx="6793992" cy="1024128"/>
          </a:xfrm>
          <a:prstGeom prst="roundRect">
            <a:avLst>
              <a:gd name="adj" fmla="val 10714"/>
            </a:avLst>
          </a:prstGeom>
          <a:solidFill>
            <a:srgbClr val="FCEEE7"/>
          </a:solidFill>
          <a:ln/>
        </p:spPr>
      </p:sp>
      <p:sp>
        <p:nvSpPr>
          <p:cNvPr id="19" name="erro_circulo"/>
          <p:cNvSpPr/>
          <p:nvPr/>
        </p:nvSpPr>
        <p:spPr>
          <a:xfrm>
            <a:off x="5029200" y="522122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erro_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5376672"/>
            <a:ext cx="329184" cy="329184"/>
          </a:xfrm>
          <a:prstGeom prst="rect">
            <a:avLst/>
          </a:prstGeom>
        </p:spPr>
      </p:pic>
      <p:sp>
        <p:nvSpPr>
          <p:cNvPr id="21" name="erro_txt"/>
          <p:cNvSpPr txBox="1"/>
          <p:nvPr/>
        </p:nvSpPr>
        <p:spPr>
          <a:xfrm>
            <a:off x="5852160" y="5102352"/>
            <a:ext cx="5623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erro que sobrou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"Como trocar o óleo do carro?" passou pelo escopo; o sistema não inventou nada, mas não reconheceu a pergunta como fora da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Confiável por construção e auditado por humanos</a:t>
            </a:r>
            <a:endParaRPr lang="en-US" sz="3400" dirty="0"/>
          </a:p>
        </p:txBody>
      </p:sp>
      <p:sp>
        <p:nvSpPr>
          <p:cNvPr id="3" name="fecho_card_0"/>
          <p:cNvSpPr/>
          <p:nvPr/>
        </p:nvSpPr>
        <p:spPr>
          <a:xfrm>
            <a:off x="548640" y="137160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fecho_stat_0"/>
          <p:cNvSpPr txBox="1"/>
          <p:nvPr/>
        </p:nvSpPr>
        <p:spPr>
          <a:xfrm>
            <a:off x="777240" y="1508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95,8%</a:t>
            </a:r>
            <a:endParaRPr lang="en-US" sz="4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das frases geradas sustentadas pelas avaliações citadas (69 de 72; nenhuma sem sustentação)</a:t>
            </a:r>
            <a:endParaRPr lang="en-US" sz="4800" dirty="0"/>
          </a:p>
        </p:txBody>
      </p:sp>
      <p:sp>
        <p:nvSpPr>
          <p:cNvPr id="5" name="fecho_card_1"/>
          <p:cNvSpPr/>
          <p:nvPr/>
        </p:nvSpPr>
        <p:spPr>
          <a:xfrm>
            <a:off x="4297680" y="137160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fecho_stat_1"/>
          <p:cNvSpPr txBox="1"/>
          <p:nvPr/>
        </p:nvSpPr>
        <p:spPr>
          <a:xfrm>
            <a:off x="4526280" y="1508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94,9%</a:t>
            </a:r>
            <a:endParaRPr lang="en-US" sz="4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 precisão das regras de tema (298 de 314 avaliações auditadas)</a:t>
            </a:r>
            <a:endParaRPr lang="en-US" sz="4800" dirty="0"/>
          </a:p>
        </p:txBody>
      </p:sp>
      <p:sp>
        <p:nvSpPr>
          <p:cNvPr id="7" name="fecho_card_2"/>
          <p:cNvSpPr/>
          <p:nvPr/>
        </p:nvSpPr>
        <p:spPr>
          <a:xfrm>
            <a:off x="8046720" y="137160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fecho_stat_2"/>
          <p:cNvSpPr txBox="1"/>
          <p:nvPr/>
        </p:nvSpPr>
        <p:spPr>
          <a:xfrm>
            <a:off x="8275320" y="1508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</a:t>
            </a:r>
            <a:endParaRPr lang="en-US" sz="4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citações inválidas nas 16 respostas geradas</a:t>
            </a:r>
            <a:endParaRPr lang="en-US" sz="4800" dirty="0"/>
          </a:p>
        </p:txBody>
      </p:sp>
      <p:sp>
        <p:nvSpPr>
          <p:cNvPr id="9" name="limites_titulo"/>
          <p:cNvSpPr txBox="1"/>
          <p:nvPr/>
        </p:nvSpPr>
        <p:spPr>
          <a:xfrm>
            <a:off x="5486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Limites e próximos passos</a:t>
            </a:r>
            <a:endParaRPr lang="en-US" sz="2000" dirty="0"/>
          </a:p>
        </p:txBody>
      </p:sp>
      <p:sp>
        <p:nvSpPr>
          <p:cNvPr id="10" name="limites_lista"/>
          <p:cNvSpPr txBox="1"/>
          <p:nvPr/>
        </p:nvSpPr>
        <p:spPr>
          <a:xfrm>
            <a:off x="548640" y="42062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O score de escopo é o elo fraco: mais perguntas de calibração e um classificador de domínio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"Pedido não recebido" tem 79% de precisão: separar a entrega parcial em regra própria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6"/>
                </a:solidFill>
              </a:rPr>
              <a:t>Verificar automaticamente se cada evidência sustenta a frase, hoje medido por amostra humana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o VoC">
  <a:themeElements>
    <a:clrScheme name="Linho VoC">
      <a:dk1>
        <a:srgbClr val="1D2B33"/>
      </a:dk1>
      <a:lt1>
        <a:srgbClr val="FFFFFF"/>
      </a:lt1>
      <a:dk2>
        <a:srgbClr val="0F3B40"/>
      </a:dk2>
      <a:lt2>
        <a:srgbClr val="EEF3F2"/>
      </a:lt2>
      <a:accent1>
        <a:srgbClr val="0F9D8A"/>
      </a:accent1>
      <a:accent2>
        <a:srgbClr val="E0662F"/>
      </a:accent2>
      <a:accent3>
        <a:srgbClr val="5E6B73"/>
      </a:accent3>
      <a:accent4>
        <a:srgbClr val="B42318"/>
      </a:accent4>
      <a:accent5>
        <a:srgbClr val="9FB7B3"/>
      </a:accent5>
      <a:accent6>
        <a:srgbClr val="C9D6D3"/>
      </a:accent6>
      <a:hlink>
        <a:srgbClr val="0F9D8A"/>
      </a:hlink>
      <a:folHlink>
        <a:srgbClr val="5E6B73"/>
      </a:folHlink>
    </a:clrScheme>
    <a:fontScheme name="Linho Vo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of Customer Intelligence com RAG — principais achados</dc:title>
  <dc:subject>PptxGenJS Presentation</dc:subject>
  <dc:creator>Grupo 99</dc:creator>
  <cp:lastModifiedBy>Grupo 99</cp:lastModifiedBy>
  <cp:revision>1</cp:revision>
  <dcterms:created xsi:type="dcterms:W3CDTF">2026-10-05T01:50:45Z</dcterms:created>
  <dcterms:modified xsi:type="dcterms:W3CDTF">2026-10-05T01:50:45Z</dcterms:modified>
</cp:coreProperties>
</file>